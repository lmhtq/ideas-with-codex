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讲法：先给出结论：没有单一路线解决记忆；后面按演化、路线、系统化和落地架构展开。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讲法：先把四种 memory 的语义切开，避免后面把 RAG、个性化、agent 经验和参数内化混为一谈。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收尾：把讨论拉回三个问题：治理、内化边界、评估范式。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ppt/presentations/llm-memory-evolution/assets/cover-llm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E141B">
              <a:alpha val="92000"/>
            </a:srgbClr>
          </a:solidFill>
          <a:ln w="12700">
            <a:solidFill>
              <a:srgbClr val="0E14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685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LLM 记忆系统演化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98448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E7F4"/>
                </a:solidFill>
              </a:rPr>
              <a:t>从 ChatGPT 到 RAG、Agent Memory、Memory OS、LoRA 与 Tensor/Neural Memory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6080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D8"/>
                </a:solidFill>
              </a:rPr>
              <a:t>研究报告转 PPT · 2026-06-03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Executive 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一句话结论：记忆不是一个模块，而是一组生命周期能力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10972800" cy="777240"/>
          </a:xfrm>
          <a:prstGeom prst="rect">
            <a:avLst/>
          </a:prstGeom>
          <a:solidFill>
            <a:srgbClr val="EAF3FB"/>
          </a:solidFill>
          <a:ln w="12700">
            <a:solidFill>
              <a:srgbClr val="9CC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435608"/>
            <a:ext cx="1071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核心判断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1746504"/>
            <a:ext cx="107167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2026 年之前，没有单一路线能完整解决 LLM 记忆。可落地系统会混合：上下文压缩 + 外部可审计记忆 + Agent memory + 参数化技能 + Neural/Tensor 底层增强。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578608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08CA8"/>
                </a:solidFill>
              </a:rPr>
              <a:t>RAG 是 retrieval memory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22376" y="2889504"/>
            <a:ext cx="5001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</a:rPr>
              <a:t>解决外部事实访问；强在可审计、可删、可更新。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72200" y="2468880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2578608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69AA"/>
                </a:solidFill>
              </a:rPr>
              <a:t>产品 memory 是 personalization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300216" y="2889504"/>
            <a:ext cx="5001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</a:rPr>
              <a:t>ChatGPT/Gemini/Claude 更关注用户偏好与工作上下文连续。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94360" y="3730752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840480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38B45"/>
                </a:solidFill>
              </a:rPr>
              <a:t>Agent memory 是 behavior memory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22376" y="4151376"/>
            <a:ext cx="5001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</a:rPr>
              <a:t>把经验、失败、过程和反思放进 agent 决策循环。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172200" y="3730752"/>
            <a:ext cx="5257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3840480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5E4B9A"/>
                </a:solidFill>
              </a:rPr>
              <a:t>参数/latent 是 internalized memory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300216" y="4151376"/>
            <a:ext cx="5001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12B"/>
                </a:solidFill>
              </a:rPr>
              <a:t>把稳定技能或长上下文压进权重、token、activation、neural memory。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261E"/>
                </a:solidFill>
              </a:rPr>
              <a:t>真正难点：写入过滤、冲突解决、选择性遗忘、来源溯源、权限隔离、成本与长期稳定。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Chronology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时间线：从“上下文即记忆”到“记忆成为系统层”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43200"/>
            <a:ext cx="10469880" cy="0"/>
          </a:xfrm>
          <a:prstGeom prst="line">
            <a:avLst/>
          </a:prstGeom>
          <a:noFill/>
          <a:ln w="25400">
            <a:solidFill>
              <a:srgbClr val="C9D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78608"/>
            <a:ext cx="329184" cy="329184"/>
          </a:xfrm>
          <a:prstGeom prst="ellipse">
            <a:avLst/>
          </a:prstGeom>
          <a:solidFill>
            <a:srgbClr val="1769A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9AA"/>
                </a:solidFill>
              </a:rPr>
              <a:t>2020-21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5270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REALM / RAG / RETRO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48056" y="183794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检索增强知识访问成为基础范式。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395728" y="2578608"/>
            <a:ext cx="329184" cy="329184"/>
          </a:xfrm>
          <a:prstGeom prst="ellipse">
            <a:avLst/>
          </a:prstGeom>
          <a:solidFill>
            <a:srgbClr val="1769A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9AA"/>
                </a:solidFill>
              </a:rPr>
              <a:t>2022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7360" y="315468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65376" y="3264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ChatGPT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865376" y="357530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主要依赖当前上下文；跨会话记忆有限。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197096" y="2578608"/>
            <a:ext cx="329184" cy="329184"/>
          </a:xfrm>
          <a:prstGeom prst="ellipse">
            <a:avLst/>
          </a:prstGeom>
          <a:solidFill>
            <a:srgbClr val="238B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8B45"/>
                </a:solidFill>
              </a:rPr>
              <a:t>2023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38728" y="14173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15270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Generative Agents / MemoryBank / MemGPT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666744" y="183794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memory stream、reflection、virtual context 进入 agent。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998464" y="2578608"/>
            <a:ext cx="329184" cy="329184"/>
          </a:xfrm>
          <a:prstGeom prst="ellipse">
            <a:avLst/>
          </a:prstGeom>
          <a:solidFill>
            <a:srgbClr val="B45F0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9864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F06"/>
                </a:solidFill>
              </a:rPr>
              <a:t>2024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0096" y="315468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3264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ChatGPT Memory / LoCoMo / MemoryLLM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468112" y="357530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产品记忆与长期记忆评估出现。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799832" y="2578608"/>
            <a:ext cx="329184" cy="329184"/>
          </a:xfrm>
          <a:prstGeom prst="ellipse">
            <a:avLst/>
          </a:prstGeom>
          <a:solidFill>
            <a:srgbClr val="5E4B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4B9A"/>
                </a:solidFill>
              </a:rPr>
              <a:t>2025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41464" y="14173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5270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Mem0 / A-Mem / MemOS / Graphiti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269480" y="183794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memory layer、graph memory、Memory OS 化。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601200" y="2578608"/>
            <a:ext cx="329184" cy="329184"/>
          </a:xfrm>
          <a:prstGeom prst="ellipse">
            <a:avLst/>
          </a:prstGeom>
          <a:solidFill>
            <a:srgbClr val="B3261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2026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42832" y="315468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0848" y="32644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12B"/>
                </a:solidFill>
              </a:rPr>
              <a:t>EverMemOS / MemRL / TierMem / AgentMemoryBench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070848" y="3575304"/>
            <a:ext cx="13167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12B"/>
                </a:solidFill>
              </a:rPr>
              <a:t>自进化、溯源、选择性遗忘与治理。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960120" y="5166360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转折点：2025 之后，记忆从 prompt engineering 和 RAG 组件上移为可治理的平台资源。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Taxonomy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五条技术路线：每条解决不同层面的“记住”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1143000" cy="74980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35608"/>
            <a:ext cx="9875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上下文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压缩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920240" y="1453896"/>
            <a:ext cx="3931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rolling summary、LLMLingua、ACON、Memento；降低 token 成本，但需要原文回溯。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1143000" cy="749808"/>
          </a:xfrm>
          <a:prstGeom prst="rect">
            <a:avLst/>
          </a:prstGeom>
          <a:solidFill>
            <a:srgbClr val="008CA8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50008"/>
            <a:ext cx="9875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RAG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图谱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920240" y="2368296"/>
            <a:ext cx="3931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vector/hybrid search、GraphRAG、Zep/Graphiti；外部事实可审计、可删、可更新。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54680"/>
            <a:ext cx="1143000" cy="74980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64408"/>
            <a:ext cx="9875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Memory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920240" y="3282696"/>
            <a:ext cx="3931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MemoryBank、MemGPT、A-Mem、LightMem；让经验影响多轮任务与行为连续。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69080"/>
            <a:ext cx="1143000" cy="749808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78808"/>
            <a:ext cx="9875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LoRA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参数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920240" y="4197096"/>
            <a:ext cx="3931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SFT、LoRA、model editing、continual learning；适合稳定技能，不适合动态隐私事实。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49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983480"/>
            <a:ext cx="1143000" cy="749808"/>
          </a:xfrm>
          <a:prstGeom prst="rect">
            <a:avLst/>
          </a:prstGeom>
          <a:solidFill>
            <a:srgbClr val="5E4B9A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093208"/>
            <a:ext cx="98755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Tensor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Neural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1920240" y="5111496"/>
            <a:ext cx="39319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Gist/ICAE、MemoryLLM、Titans、MSA；高压缩、潜力大，但治理能力弱。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46520" y="1325880"/>
            <a:ext cx="5120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35608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</a:rPr>
              <a:t>判断框架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74536" y="1746504"/>
            <a:ext cx="486460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1. 写入方式：原文、摘要、图谱、adapter、activation？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2. 读取方式：prompt 注入、检索、graph traversal、内部 attention？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3. 更新频率：一次性、会话级、持续学习、test-time？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4. 治理能力：可审计、可删、可回滚、可隔离？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5. 评估对象：recall、temporal reasoning、conflict、task success？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5486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261E"/>
                </a:solidFill>
              </a:rPr>
              <a:t>记忆系统不是存储问题，而是 lifecycle 问题。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上下文与纯文本压缩：最现实的第一层记忆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98448"/>
            <a:ext cx="3566160" cy="1234440"/>
          </a:xfrm>
          <a:prstGeom prst="rect">
            <a:avLst/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40817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第一代补丁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" y="1719072"/>
            <a:ext cx="33101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conversation buffer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rolling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profile note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project memory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session replay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298448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40817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B9A"/>
                </a:solidFill>
              </a:rPr>
              <a:t>压缩研究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71416" y="1719072"/>
            <a:ext cx="33101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LLMLingua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LongLLMLingua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Selective 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Gist Tokens / ICAE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Dictionary encoding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298448"/>
            <a:ext cx="3520440" cy="1234440"/>
          </a:xfrm>
          <a:prstGeom prst="rect">
            <a:avLst/>
          </a:prstGeom>
          <a:solidFill>
            <a:srgbClr val="EAF6EE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408176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Agent compaction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0456" y="1719072"/>
            <a:ext cx="326440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Active Context Compression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Memento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block-level mementos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task-boundary compaction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1901952"/>
            <a:ext cx="219456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45552" y="1901952"/>
            <a:ext cx="219456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3081528"/>
            <a:ext cx="5093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核心风险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" y="3392424"/>
            <a:ext cx="5093208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摘要不是中立操作：它会改变证据权重。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压缩链会累积损失：多轮 auto-compact 容易产生记忆腐化。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纯文本压缩缺少事实生命周期：需要和 event log / RAG / graph 配合。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971800"/>
            <a:ext cx="5349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081528"/>
            <a:ext cx="5093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落地建议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91656" y="3392424"/>
            <a:ext cx="5093208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保留 raw log 或 evidence pointer。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按子任务完成、工具调用、错误恢复触发 compact。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把 compacted state 当短期工作记忆，不当唯一长期事实源。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对用户偏好和项目事实做结构化抽取。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Sources: LLMLingua, LongLLMLingua, Prompt Compression Survey, ACON, Memento.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RAG 与图谱记忆：外部事实记忆的主干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481328" cy="868680"/>
          </a:xfrm>
          <a:prstGeom prst="rect">
            <a:avLst/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69AA"/>
                </a:solidFill>
              </a:rPr>
              <a:t>Query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769AA"/>
                </a:solidFill>
              </a:rPr>
              <a:t>Rewrite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58568" y="2267712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828800"/>
            <a:ext cx="1481328" cy="868680"/>
          </a:xfrm>
          <a:prstGeom prst="rect">
            <a:avLst/>
          </a:prstGeom>
          <a:solidFill>
            <a:srgbClr val="EAF3FB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CA8"/>
                </a:solidFill>
              </a:rPr>
              <a:t>Hybrid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8CA8"/>
                </a:solidFill>
              </a:rPr>
              <a:t>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2267712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1828800"/>
            <a:ext cx="1481328" cy="868680"/>
          </a:xfrm>
          <a:prstGeom prst="rect">
            <a:avLst/>
          </a:prstGeom>
          <a:solidFill>
            <a:srgbClr val="EAF6EE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8B45"/>
                </a:solidFill>
              </a:rPr>
              <a:t>Rerank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64808" y="2267712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1828800"/>
            <a:ext cx="1481328" cy="868680"/>
          </a:xfrm>
          <a:prstGeom prst="rect">
            <a:avLst/>
          </a:prstGeom>
          <a:solidFill>
            <a:srgbClr val="EAF6EE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8B45"/>
                </a:solidFill>
              </a:rPr>
              <a:t>Graph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38B45"/>
                </a:solidFill>
              </a:rPr>
              <a:t>Traversal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67928" y="2267712"/>
            <a:ext cx="502920" cy="0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1828800"/>
            <a:ext cx="1481328" cy="868680"/>
          </a:xfrm>
          <a:prstGeom prst="rect">
            <a:avLst/>
          </a:prstGeom>
          <a:solidFill>
            <a:srgbClr val="FFF4E5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2016" y="193852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F06"/>
                </a:solidFill>
              </a:rPr>
              <a:t>Evidence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45F06"/>
                </a:solidFill>
              </a:rPr>
              <a:t>Injection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355848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CA8"/>
                </a:solidFill>
              </a:rPr>
              <a:t>RAG 的贡献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" y="3666744"/>
            <a:ext cx="500176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外部知识可更新、可删除、可引用；适合企业文档、项目事实、用户事实和业务实体。Graph memory 进一步加入时间、主体、关系、冲突和状态变化。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257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3355848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RAG 的误区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1656" y="3666744"/>
            <a:ext cx="500176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检索命中不等于模型会用对。相似度 top-k 缺少生命周期；长任务经验、失败模式和 procedure 很难只靠 chunk retrieval 表达。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440680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008CA8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49097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GraphRAG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057400" y="5440680"/>
            <a:ext cx="960120" cy="256032"/>
          </a:xfrm>
          <a:prstGeom prst="roundRect">
            <a:avLst>
              <a:gd name="adj" fmla="val 10714"/>
            </a:avLst>
          </a:prstGeom>
          <a:solidFill>
            <a:srgbClr val="008CA8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49097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LightRAG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154680" y="5440680"/>
            <a:ext cx="1005840" cy="256032"/>
          </a:xfrm>
          <a:prstGeom prst="roundRect">
            <a:avLst>
              <a:gd name="adj" fmla="val 10714"/>
            </a:avLst>
          </a:prstGeom>
          <a:solidFill>
            <a:srgbClr val="008CA8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549097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HippoRAG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297680" y="5440680"/>
            <a:ext cx="1234440" cy="256032"/>
          </a:xfrm>
          <a:prstGeom prst="roundRect">
            <a:avLst>
              <a:gd name="adj" fmla="val 10714"/>
            </a:avLst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5490972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Zep/Graphiti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669280" y="5440680"/>
            <a:ext cx="1691640" cy="256032"/>
          </a:xfrm>
          <a:prstGeom prst="roundRect">
            <a:avLst>
              <a:gd name="adj" fmla="val 10714"/>
            </a:avLst>
          </a:prstGeom>
          <a:solidFill>
            <a:srgbClr val="5E4B9A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549097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From RAG to Memory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Agent Memory：从日志检索到主动记忆管理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2743200" cy="4389120"/>
          </a:xfrm>
          <a:prstGeom prst="rect">
            <a:avLst/>
          </a:prstGeom>
          <a:solidFill>
            <a:srgbClr val="EAF6EE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716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Memory lifecycle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682496"/>
            <a:ext cx="248716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1. 写入过滤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2. 结构化编码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3. 去重/合并/版本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4. task-aware retrieval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5. 反思与反馈更新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</a:rPr>
              <a:t>6. 删除与回滚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11880" y="1261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371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38B45"/>
                </a:solidFill>
              </a:rPr>
              <a:t>Generative Agents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3739896" y="1682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memory stream + reflection + planning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89520" y="1261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7536" y="1371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38B45"/>
                </a:solidFill>
              </a:rPr>
              <a:t>MemoryBank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717536" y="1682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长期对话记忆、用户画像、遗忘曲线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11880" y="2404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2514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38B45"/>
                </a:solidFill>
              </a:rPr>
              <a:t>MemGPT/Letta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739896" y="2825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virtual context、self-editing memory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89520" y="2404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7536" y="2514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E4B9A"/>
                </a:solidFill>
              </a:rPr>
              <a:t>A-Mem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717536" y="2825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动态组织 memory nodes and links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11880" y="3547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3657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E4B9A"/>
                </a:solidFill>
              </a:rPr>
              <a:t>LightMem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739896" y="3968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sensory/short-term/long-term + sleep-time update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89520" y="3547872"/>
            <a:ext cx="3703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7536" y="36576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E4B9A"/>
                </a:solidFill>
              </a:rPr>
              <a:t>MemRL / MemEvolve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717536" y="3968496"/>
            <a:ext cx="34472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12B"/>
                </a:solidFill>
              </a:rPr>
              <a:t>经验学习与记忆架构自进化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11880" y="4937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变化本质：记忆进入 perception → planning → action → reflection 循环，开始影响行为，而不只是回答时检索文本。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Memory OS：记忆变成系统资源，而不是 prompt 小技巧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pic>
        <p:nvPicPr>
          <p:cNvPr id="6" name="Image 0" descr="/Users/lxh/Documents/我的想法/outputs/manual-llm-memory-ppt/presentations/llm-memory-evolution/assets/memory-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12064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23444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25896" y="13441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CA8"/>
                </a:solidFill>
              </a:rPr>
              <a:t>Plaintext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25896" y="1655064"/>
            <a:ext cx="15727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文档、事实、图谱、RAG store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909560" y="1234440"/>
            <a:ext cx="1828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37576" y="13441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B9A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37576" y="1655064"/>
            <a:ext cx="15727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上下文状态、KV、运行时中间态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921240" y="1234440"/>
            <a:ext cx="1691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49256" y="1344168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F06"/>
                </a:solidFill>
              </a:rPr>
              <a:t>Parametric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49256" y="1655064"/>
            <a:ext cx="1435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</a:rPr>
              <a:t>权重、LoRA、adapter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2651760"/>
            <a:ext cx="5715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25896" y="2761488"/>
            <a:ext cx="5458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</a:rPr>
              <a:t>代表系统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25896" y="3072384"/>
            <a:ext cx="54589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MemGPT/Letta：virtual context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MemOS：plaintext / activation / parametric 统一抽象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EverMind/EverOS/EverMemOS：self-organizing memory 生态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Mem0、Zep/Graphiti、TencentDB Agent Memory：生产级 memory layer / graph / local-first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40080" y="4434840"/>
            <a:ext cx="10972800" cy="1097280"/>
          </a:xfrm>
          <a:prstGeom prst="rect">
            <a:avLst/>
          </a:prstGeom>
          <a:solidFill>
            <a:srgbClr val="F1EFFA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4544568"/>
            <a:ext cx="1071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B9A"/>
                </a:solidFill>
              </a:rPr>
              <a:t>Memory OS 真正解决的问题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" y="4855464"/>
            <a:ext cx="107167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统一多种 memory substrate；给每条记忆来源、版本、权限和生命周期；支持跨 agent/模型迁移、可观测、调试、写入质量控制和防止 hallucination 持久化。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LoRA / 参数化记忆：适合内化技能，不适合做事实数据库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508760"/>
                <a:gridCol w="3383280"/>
                <a:gridCol w="37947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写入粒度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SFT / continued pretraining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领域适配、风格、能力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成本高、难回滚、遗忘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LoRA / adapter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租户、任务、风格、领域技能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adapter 冲突、组合不可预测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 editing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修改具体知识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locality、泛化、邻近事实破坏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Continual learning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时间序列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持续适应新知识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catastrophic forgetting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Sleep consolidation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离线巩固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把验证外部经验转为技能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错误记忆被固化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16052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42702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适合写进参数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" y="4581144"/>
            <a:ext cx="47731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稳定输出风格、高频 procedure、领域术语、模板、分类规则、长期稳定事实。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416052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8816" y="42702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不适合写进参数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28816" y="4581144"/>
            <a:ext cx="47731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高频变化事实、需要可追溯的金融/医疗/法务信息、用户隐私、未经验证的 agent 推断。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5715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建议：新事实先进入外部记忆；只有稳定、高频、低隐私风险、低变更频率内容才考虑 LoRA/adapter。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Sources: Knowledge Editing Survey, Sparse Memory Finetuning, STABLE, How LoRA Remembers.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Route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Tensor / Latent / Neural Memory：高潜力，但不是治理替代品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pic>
        <p:nvPicPr>
          <p:cNvPr id="6" name="Image 0" descr="/Users/lxh/Documents/我的想法/outputs/manual-llm-memory-ppt/presentations/llm-memory-evolution/assets/neural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70432"/>
            <a:ext cx="5166360" cy="290779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34440"/>
          <a:ext cx="5577840" cy="233172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18288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 prompt / memory token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Gist Tokens、ICAE、AutoCompressors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高压缩，低可读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Activation / KV memory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cache、PagedAttention、context caching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工程成熟，但不是长期记忆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FFN / parameter memory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MemoryLLM FFN、model editing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研究前沿，分析参数记忆入口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Test-time neural memory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Titans、MIRAS、MSA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潜力高，产品治理早期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4434840"/>
            <a:ext cx="5074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3816" y="4544568"/>
            <a:ext cx="481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B9A"/>
                </a:solidFill>
              </a:rPr>
              <a:t>能解决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13816" y="4855464"/>
            <a:ext cx="48188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超长上下文计算/带宽瓶颈；重复上下文高压缩；多模态或连续信号长期状态；底层模型能力增强。</a:t>
            </a:r>
            <a:endParaRPr lang="en-US" sz="1130" dirty="0"/>
          </a:p>
        </p:txBody>
      </p:sp>
      <p:sp>
        <p:nvSpPr>
          <p:cNvPr id="11" name="Shape 7"/>
          <p:cNvSpPr/>
          <p:nvPr/>
        </p:nvSpPr>
        <p:spPr>
          <a:xfrm>
            <a:off x="6080760" y="4434840"/>
            <a:ext cx="5257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08776" y="4544568"/>
            <a:ext cx="5001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不能单独解决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08776" y="4855464"/>
            <a:ext cx="50017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用户删除请求、企业审计、多租户权限隔离、错误记忆人工修复、来源解释。</a:t>
            </a:r>
            <a:endParaRPr lang="en-US" sz="1130" dirty="0"/>
          </a:p>
        </p:txBody>
      </p:sp>
      <p:sp>
        <p:nvSpPr>
          <p:cNvPr id="14" name="Text 10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Product memory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产品级记忆：个性化与企业治理先落地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169164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834640"/>
                <a:gridCol w="342900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记忆形态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侧重点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Memory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saved memories + reference chat history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个人偏好、跨会话连续性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不是完整 agent memory OS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Gemini recall past chats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历史聊天引用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连续工作流恢复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更像 past chats reference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memory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team/work memory + search + incognito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企业工作上下文与治理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强调组织控制与导入/导出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657600"/>
            <a:ext cx="3429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37673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用户价值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5256" y="4078224"/>
            <a:ext cx="31729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少重复解释背景；偏好持续；项目/工作上下文能跨会话延续。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3657600"/>
            <a:ext cx="3429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62856" y="37673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治理要求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62856" y="4078224"/>
            <a:ext cx="31729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查看、编辑、删除、临时会话、企业管理员控制、隐私边界。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657600"/>
            <a:ext cx="3429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37673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剩余风险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0456" y="4078224"/>
            <a:ext cx="31729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用户看不到完整写入/检索；错误、敏感、过期记忆仍需治理。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Sources: OpenAI ChatGPT Memory, Google Gemini recall past chats, Anthropic Claude memory.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Benchmark：不要把“检索成绩”误读为“长期记忆能力”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6858000" cy="2971800"/>
        </p:xfrm>
        <a:graphic>
          <a:graphicData uri="http://schemas.openxmlformats.org/drawingml/2006/table">
            <a:tbl>
              <a:tblPr/>
              <a:tblGrid>
                <a:gridCol w="1691640"/>
                <a:gridCol w="2514600"/>
                <a:gridCol w="2651760"/>
              </a:tblGrid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Benchmark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测什么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注意事项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LoCoMo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session 对话 QA、事件总结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容易受 prompt/context 策略影响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时间推理、知识更新、拒答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长上下文模型可能削弱区分度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BEAM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 to 10M tokens、10 类能力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成本高，生成数据需审慎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MemBench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factual + reflective memory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需看是否贴近真实 agent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MemoryAgentBench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retrieval、test-time learning、conflict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 benchmark，复现生态早期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AgentMemoryBench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system/personal memory、repair、transfer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更完整但比较成本高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9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23444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4696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必须同时测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54696" y="1655064"/>
            <a:ext cx="34015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</a:rPr>
              <a:t>写入准确率、回忆准确率、冲突处理、遗忘执行、任务收益、成本曲线、可观测性、安全性。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726680" y="26517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54696" y="27614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常见陷阱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54696" y="3072384"/>
            <a:ext cx="340156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</a:rPr>
              <a:t>LLM-as-Judge 偏差；答案键错误；只测检索不测生命周期；上下文窗口作弊；自报成绩不等同 SOTA。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评估目标应从 recall 扩展到 lifecycle 与真实长程任务完成率。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Practical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推荐架构：先外部可治理，再选择性内化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07008"/>
            <a:ext cx="2011680" cy="438912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31673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事件日志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035808" y="1207008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1627632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append-only：原始对话、工具调用、文件状态、失败分支；用于审计与回放。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83664"/>
            <a:ext cx="2011680" cy="4389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短期工作记忆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035808" y="1883664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2304288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当前任务窗口 + compacted state；只保留当前子任务所需信息。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560320"/>
            <a:ext cx="2011680" cy="438912"/>
          </a:xfrm>
          <a:prstGeom prst="rect">
            <a:avLst/>
          </a:prstGeom>
          <a:solidFill>
            <a:srgbClr val="008CA8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2670048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事实/图谱层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035808" y="2560320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2980944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atomic facts、entities、relations、time edges、provenance、permissions。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236976"/>
            <a:ext cx="2011680" cy="43891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34670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Agent 经验层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035808" y="3236976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3657600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procedures、failure cases、tool gotchas、user feedback、reflection。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913632"/>
            <a:ext cx="2011680" cy="438912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02336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参数化层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035808" y="3913632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4334256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稳定风格、模板、领域技能才进入 LoRA/adapter；保留回滚来源。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4590288"/>
            <a:ext cx="2011680" cy="438912"/>
          </a:xfrm>
          <a:prstGeom prst="rect">
            <a:avLst/>
          </a:prstGeom>
          <a:solidFill>
            <a:srgbClr val="5E4B9A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7000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Neural/Tensor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035808" y="4590288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3824" y="5010912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memory token、KV/activation、FFN memory、test-time neural memory。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5266944"/>
            <a:ext cx="2011680" cy="438912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537667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治理层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035808" y="5266944"/>
            <a:ext cx="8138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5687568"/>
            <a:ext cx="7882128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写入过滤、去重、冲突、过期、删除、敏感策略、memory poisoning 防御。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6080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3261E"/>
                </a:solidFill>
              </a:rPr>
              <a:t>原则：高频稳定技能可内化；动态事实、隐私、可删除信息必须留在外部可治理记忆。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Source: llm_memory_systems_research_2026.md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606D"/>
                </a:solidFill>
              </a:rPr>
              <a:t>Outlook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展望：竞争点从“存进去”转向“治理好”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1338560" cy="0"/>
          </a:xfrm>
          <a:prstGeom prst="line">
            <a:avLst/>
          </a:prstGeom>
          <a:noFill/>
          <a:ln w="15240">
            <a:solidFill>
              <a:srgbClr val="C9D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3350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188720" y="118872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29844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AA"/>
                </a:solidFill>
              </a:rPr>
              <a:t>记忆平台化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16736" y="1609344"/>
            <a:ext cx="44074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Memory OS / memory layer 会成为 agent 基础设施，而不是 prompt 小技巧。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384048" cy="384048"/>
          </a:xfrm>
          <a:prstGeom prst="ellipse">
            <a:avLst/>
          </a:prstGeom>
          <a:solidFill>
            <a:srgbClr val="0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13350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675120" y="118872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29844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CA8"/>
                </a:solidFill>
              </a:rPr>
              <a:t>外部记忆仍是主干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03136" y="1609344"/>
            <a:ext cx="44074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审计、删除、权限、来源要求决定 RAG/graph/plaintext 不会消失。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2468880"/>
            <a:ext cx="384048" cy="384048"/>
          </a:xfrm>
          <a:prstGeom prst="ellipse">
            <a:avLst/>
          </a:prstGeom>
          <a:solidFill>
            <a:srgbClr val="238B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569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188720" y="242316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253288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8B45"/>
                </a:solidFill>
              </a:rPr>
              <a:t>参数化做后端巩固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2843784"/>
            <a:ext cx="44074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稳定、高频、低隐私风险的技能才适合 LoRA/adapter。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172200" y="2468880"/>
            <a:ext cx="384048" cy="384048"/>
          </a:xfrm>
          <a:prstGeom prst="ellipse">
            <a:avLst/>
          </a:prstGeom>
          <a:solidFill>
            <a:srgbClr val="B45F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2569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675120" y="242316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53288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F06"/>
                </a:solidFill>
              </a:rPr>
              <a:t>Neural memory 增强底层能力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3136" y="2843784"/>
            <a:ext cx="44074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超长上下文、多模态和 test-time learning 是主要落点。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5E4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8039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188720" y="365760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E4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6736" y="3767328"/>
            <a:ext cx="4407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4B9A"/>
                </a:solidFill>
              </a:rPr>
              <a:t>治理成为护城河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16736" y="4078224"/>
            <a:ext cx="440740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写入过滤、冲突解决、选择性遗忘、溯源、安全和长期稳定。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77240" y="5102352"/>
            <a:ext cx="10744200" cy="777240"/>
          </a:xfrm>
          <a:prstGeom prst="rect">
            <a:avLst/>
          </a:prstGeom>
          <a:solidFill>
            <a:srgbClr val="EAF3FB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5212080"/>
            <a:ext cx="1048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9AA"/>
                </a:solidFill>
              </a:rPr>
              <a:t>最终判断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05256" y="5522976"/>
            <a:ext cx="104881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未来不是 RAG、LoRA、Memory OS、Neural Memory 之一胜出，而是混合系统胜出：文本压缩负责成本，RAG/图谱负责事实，agent memory 负责行为连续，参数化负责稳定技能，neural/tensor 负责底层长程依赖。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5"/>
                </a:solidFill>
              </a:rPr>
              <a:t>References: RAG, RETRO, Generative Agents, MemoryBank, MemGPT, Mem0, MemOS, EverMemOS, LLMLingua, MemoryLLM, Titans, LoCoMo, LongMemEval.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xh/Documents/我的想法/outputs/manual-llm-memory-ppt/presentations/llm-memory-evolution/assets/cover-llm-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>
              <a:alpha val="82000"/>
            </a:srgbClr>
          </a:solidFill>
          <a:ln w="12700">
            <a:solidFill>
              <a:srgbClr val="0E141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772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讨论：LLM 记忆系统下一步看什么？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0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2416" y="20391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554480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记忆治理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46120" y="19019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7F4"/>
                </a:solidFill>
              </a:rPr>
              <a:t>写入、遗忘、冲突、溯源和权限会不会成为 agent 平台的核心差异？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2999232"/>
            <a:ext cx="438912" cy="438912"/>
          </a:xfrm>
          <a:prstGeom prst="ellipse">
            <a:avLst/>
          </a:prstGeom>
          <a:solidFill>
            <a:srgbClr val="B45F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311810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54480" y="2980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外部 vs 内化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298094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7F4"/>
                </a:solidFill>
              </a:rPr>
              <a:t>哪些信息应该留在 RAG/graph/plaintext，哪些才值得进入 LoRA 或 neural memory？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078224"/>
            <a:ext cx="438912" cy="438912"/>
          </a:xfrm>
          <a:prstGeom prst="ellipse">
            <a:avLst/>
          </a:prstGeom>
          <a:solidFill>
            <a:srgbClr val="5E4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41970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554480" y="4059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评估范式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46120" y="40599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7F4"/>
                </a:solidFill>
              </a:rPr>
              <a:t>Benchmark 如何从 recall 走向真实长程任务成功率与安全性？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57150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核心结论：未来胜出的不是单个记忆技术，而是可治理、可评估、可迁移的混合记忆系统。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Research deck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记忆系统演化</dc:title>
  <dc:subject>LLM memory systems evolution</dc:subject>
  <dc:creator>Codex</dc:creator>
  <cp:lastModifiedBy>Codex</cp:lastModifiedBy>
  <cp:revision>1</cp:revision>
  <dcterms:created xsi:type="dcterms:W3CDTF">2026-06-03T03:22:22Z</dcterms:created>
  <dcterms:modified xsi:type="dcterms:W3CDTF">2026-06-03T03:22:22Z</dcterms:modified>
</cp:coreProperties>
</file>